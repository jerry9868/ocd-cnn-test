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f7757c0a-9de5-3859-3246-a357d8df1b94}">
          <p14:sldIdLst>
            <p14:sldId id="256"/>
            <p14:sldId id="257"/>
          </p14:sldIdLst>
        </p14:section>
        <p14:section name="Method and results" id="{34132d2f-c8ac-8912-2f85-5922ad322909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onclusions and gaps" id="{70d62c51-4beb-904d-a5e6-bf0962964fa8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B70"/>
                </a:solidFill>
                <a:latin typeface="+mn-lt"/>
              </a:rPr>
              <a:t>CD RMSE (nm), lower is better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 RMSE (nm)</c:v>
                </c:pt>
              </c:strCache>
            </c:strRef>
          </c:tx>
          <c:spPr>
            <a:solidFill>
              <a:srgbClr val="8FB8B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B8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B8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B8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CNN baseline</c:v>
                  </c:pt>
                  <c:pt idx="1">
                    <c:v>CNN, 3-model ensemble</c:v>
                  </c:pt>
                  <c:pt idx="2">
                    <c:v>CNN, noise augmentation</c:v>
                  </c:pt>
                  <c:pt idx="3">
                    <c:v>MLP</c:v>
                  </c:pt>
                  <c:pt idx="4">
                    <c:v>MLP, 3-model ensemble</c:v>
                  </c:pt>
                  <c:pt idx="5">
                    <c:v>MLP + refinement</c:v>
                  </c:pt>
                  <c:pt idx="6">
                    <c:v>Theoretical bound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0.105</c:v>
                </c:pt>
                <c:pt idx="1">
                  <c:v>0.097</c:v>
                </c:pt>
                <c:pt idx="2">
                  <c:v>0.095</c:v>
                </c:pt>
                <c:pt idx="3">
                  <c:v>0.077</c:v>
                </c:pt>
                <c:pt idx="4">
                  <c:v>0.074</c:v>
                </c:pt>
                <c:pt idx="5">
                  <c:v>0.068</c:v>
                </c:pt>
                <c:pt idx="6">
                  <c:v>0.067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3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B70"/>
                </a:solidFill>
                <a:latin typeface="+mn-lt"/>
              </a:rPr>
              <a:t>CD RMSE (nm) by number of training samples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8FB8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106</c:v>
                  </c:pt>
                  <c:pt idx="1">
                    <c:v>210</c:v>
                  </c:pt>
                  <c:pt idx="2">
                    <c:v>420</c:v>
                  </c:pt>
                  <c:pt idx="3">
                    <c:v>700</c:v>
                  </c:pt>
                  <c:pt idx="4">
                    <c:v>5,600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0.305</c:v>
                </c:pt>
                <c:pt idx="1">
                  <c:v>0.24</c:v>
                </c:pt>
                <c:pt idx="2">
                  <c:v>0.178</c:v>
                </c:pt>
                <c:pt idx="3">
                  <c:v>0.132</c:v>
                </c:pt>
                <c:pt idx="4">
                  <c:v>0.077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MLP + refinement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106</c:v>
                  </c:pt>
                  <c:pt idx="1">
                    <c:v>210</c:v>
                  </c:pt>
                  <c:pt idx="2">
                    <c:v>420</c:v>
                  </c:pt>
                  <c:pt idx="3">
                    <c:v>700</c:v>
                  </c:pt>
                  <c:pt idx="4">
                    <c:v>5,600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0.502</c:v>
                </c:pt>
                <c:pt idx="1">
                  <c:v>0.413</c:v>
                </c:pt>
                <c:pt idx="2">
                  <c:v>0.161</c:v>
                </c:pt>
                <c:pt idx="3">
                  <c:v>0.089</c:v>
                </c:pt>
                <c:pt idx="4">
                  <c:v>0.068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3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3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B70"/>
                </a:solidFill>
                <a:latin typeface="+mn-lt"/>
              </a:rPr>
              <a:t>CD RMSE (nm) by wavelength-axis offset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8FB8B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 nm</c:v>
                  </c:pt>
                  <c:pt idx="1">
                    <c:v>0.2 nm</c:v>
                  </c:pt>
                  <c:pt idx="2">
                    <c:v>0.5 nm</c:v>
                  </c:pt>
                  <c:pt idx="3">
                    <c:v>1.0 nm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0.077</c:v>
                </c:pt>
                <c:pt idx="1">
                  <c:v>0.099</c:v>
                </c:pt>
                <c:pt idx="2">
                  <c:v>0.176</c:v>
                </c:pt>
                <c:pt idx="3">
                  <c:v>0.329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Refinement, offset fitted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 nm</c:v>
                  </c:pt>
                  <c:pt idx="1">
                    <c:v>0.2 nm</c:v>
                  </c:pt>
                  <c:pt idx="2">
                    <c:v>0.5 nm</c:v>
                  </c:pt>
                  <c:pt idx="3">
                    <c:v>1.0 nm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0.072</c:v>
                </c:pt>
                <c:pt idx="1">
                  <c:v>0.072</c:v>
                </c:pt>
                <c:pt idx="2">
                  <c:v>0.071</c:v>
                </c:pt>
                <c:pt idx="3">
                  <c:v>0.071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3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3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B70"/>
                </a:solidFill>
                <a:latin typeface="+mn-lt"/>
              </a:rPr>
              <a:t>CD RMSE (nm) with 3 nuisance parameters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 RMSE (nm)</c:v>
                </c:pt>
              </c:strCache>
            </c:strRef>
          </c:tx>
          <c:spPr>
            <a:solidFill>
              <a:srgbClr val="8FB8B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B8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B8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B8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CNN</c:v>
                  </c:pt>
                  <c:pt idx="1">
                    <c:v>MLP</c:v>
                  </c:pt>
                  <c:pt idx="2">
                    <c:v>MLP, multi-task</c:v>
                  </c:pt>
                  <c:pt idx="3">
                    <c:v>Refinement, CD labels only</c:v>
                  </c:pt>
                  <c:pt idx="4">
                    <c:v>Refinement, all labels</c:v>
                  </c:pt>
                  <c:pt idx="5">
                    <c:v>Theoretical bound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0.154</c:v>
                </c:pt>
                <c:pt idx="1">
                  <c:v>0.133</c:v>
                </c:pt>
                <c:pt idx="2">
                  <c:v>0.122</c:v>
                </c:pt>
                <c:pt idx="3">
                  <c:v>0.125</c:v>
                </c:pt>
                <c:pt idx="4">
                  <c:v>0.096</c:v>
                </c:pt>
                <c:pt idx="5">
                  <c:v>0.09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3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The grid shows the 18 input channels: 16 Mueller elements measured at 65 degrees oblique incidence, plus TE and TM at normal incidence.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figures: the best synthetic result, the share of samples beyond 0.3 nm, and the absence of any real-data verification. Acceptance: every sample within 0.3 nm first, RMSE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stages: the network gives an initial CD, then Gauss-Newton fits it against a forward model learned from the same training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comparison. Bound 0.067 nm; CNN 0.105, MLP 0.077, with refinement 0.068.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count is the key constraint for real data. The third point is inferred from the synthetic results and not yet confirmed on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accuracy, refinement gives a per-spectrum error bar, a misfit warning, and robustness to wavelength calibration offsets.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 label error is simulated as Gaussian. The size and distribution of real TEM error still need to be established.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nuisance-parameter case is closest to real measurement. With CD labels only, the manifold method helps only when the training range is clearly wider than the range in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attention gates all settled near 1, so every synthetic channel is equally informative. The 2D and 3D CNNs use narrower layers because of CPU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Acceptance is set: every sample within 0.3 nm first, RMSE second. The real-data pipeline has so far only been tested on files written from synthetic spectra.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32588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92608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Synthetic-data results · 2026-10-10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Synthetic-data results · 2026-10-10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3258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Mueller Matrix Spectra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to CD by Machine Learning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926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Results on synthetic data, and what is missing before real data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343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2026-10-10 · Every number is from synthetic spectra; no measured data has been used yet</a:t>
            </a:r>
            <a:endParaRPr lang="en-US" sz="1200" dirty="0"/>
          </a:p>
        </p:txBody>
      </p:sp>
      <p:sp>
        <p:nvSpPr>
          <p:cNvPr id="5" name="Mueller cell 2"/>
          <p:cNvSpPr/>
          <p:nvPr/>
        </p:nvSpPr>
        <p:spPr>
          <a:xfrm>
            <a:off x="5989320" y="914400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Mueller label 3"/>
          <p:cNvSpPr txBox="1"/>
          <p:nvPr/>
        </p:nvSpPr>
        <p:spPr>
          <a:xfrm>
            <a:off x="5989320" y="914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M00</a:t>
            </a:r>
            <a:endParaRPr lang="en-US" sz="1000" dirty="0"/>
          </a:p>
        </p:txBody>
      </p:sp>
      <p:sp>
        <p:nvSpPr>
          <p:cNvPr id="7" name="Mueller cell 4"/>
          <p:cNvSpPr/>
          <p:nvPr/>
        </p:nvSpPr>
        <p:spPr>
          <a:xfrm>
            <a:off x="6665976" y="914400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ueller label 5"/>
          <p:cNvSpPr txBox="1"/>
          <p:nvPr/>
        </p:nvSpPr>
        <p:spPr>
          <a:xfrm>
            <a:off x="6665976" y="914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M01</a:t>
            </a:r>
            <a:endParaRPr lang="en-US" sz="1000" dirty="0"/>
          </a:p>
        </p:txBody>
      </p:sp>
      <p:sp>
        <p:nvSpPr>
          <p:cNvPr id="9" name="Mueller cell 6"/>
          <p:cNvSpPr/>
          <p:nvPr/>
        </p:nvSpPr>
        <p:spPr>
          <a:xfrm>
            <a:off x="7342632" y="914400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Mueller label 7"/>
          <p:cNvSpPr txBox="1"/>
          <p:nvPr/>
        </p:nvSpPr>
        <p:spPr>
          <a:xfrm>
            <a:off x="7342632" y="914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M02</a:t>
            </a:r>
            <a:endParaRPr lang="en-US" sz="1000" dirty="0"/>
          </a:p>
        </p:txBody>
      </p:sp>
      <p:sp>
        <p:nvSpPr>
          <p:cNvPr id="11" name="Mueller cell 8"/>
          <p:cNvSpPr/>
          <p:nvPr/>
        </p:nvSpPr>
        <p:spPr>
          <a:xfrm>
            <a:off x="8019288" y="914400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6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Mueller label 9"/>
          <p:cNvSpPr txBox="1"/>
          <p:nvPr/>
        </p:nvSpPr>
        <p:spPr>
          <a:xfrm>
            <a:off x="8019288" y="914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M03</a:t>
            </a:r>
            <a:endParaRPr lang="en-US" sz="1000" dirty="0"/>
          </a:p>
        </p:txBody>
      </p:sp>
      <p:sp>
        <p:nvSpPr>
          <p:cNvPr id="13" name="Mueller cell 10"/>
          <p:cNvSpPr/>
          <p:nvPr/>
        </p:nvSpPr>
        <p:spPr>
          <a:xfrm>
            <a:off x="5989320" y="1591056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4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Mueller label 11"/>
          <p:cNvSpPr txBox="1"/>
          <p:nvPr/>
        </p:nvSpPr>
        <p:spPr>
          <a:xfrm>
            <a:off x="5989320" y="15910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M10</a:t>
            </a:r>
            <a:endParaRPr lang="en-US" sz="1000" dirty="0"/>
          </a:p>
        </p:txBody>
      </p:sp>
      <p:sp>
        <p:nvSpPr>
          <p:cNvPr id="15" name="Mueller cell 12"/>
          <p:cNvSpPr/>
          <p:nvPr/>
        </p:nvSpPr>
        <p:spPr>
          <a:xfrm>
            <a:off x="6665976" y="1591056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Mueller label 13"/>
          <p:cNvSpPr txBox="1"/>
          <p:nvPr/>
        </p:nvSpPr>
        <p:spPr>
          <a:xfrm>
            <a:off x="6665976" y="15910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M11</a:t>
            </a:r>
            <a:endParaRPr lang="en-US" sz="1000" dirty="0"/>
          </a:p>
        </p:txBody>
      </p:sp>
      <p:sp>
        <p:nvSpPr>
          <p:cNvPr id="17" name="Mueller cell 14"/>
          <p:cNvSpPr/>
          <p:nvPr/>
        </p:nvSpPr>
        <p:spPr>
          <a:xfrm>
            <a:off x="7342632" y="1591056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5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Mueller label 15"/>
          <p:cNvSpPr txBox="1"/>
          <p:nvPr/>
        </p:nvSpPr>
        <p:spPr>
          <a:xfrm>
            <a:off x="7342632" y="15910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M12</a:t>
            </a:r>
            <a:endParaRPr lang="en-US" sz="1000" dirty="0"/>
          </a:p>
        </p:txBody>
      </p:sp>
      <p:sp>
        <p:nvSpPr>
          <p:cNvPr id="19" name="Mueller cell 16"/>
          <p:cNvSpPr/>
          <p:nvPr/>
        </p:nvSpPr>
        <p:spPr>
          <a:xfrm>
            <a:off x="8019288" y="1591056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Mueller label 17"/>
          <p:cNvSpPr txBox="1"/>
          <p:nvPr/>
        </p:nvSpPr>
        <p:spPr>
          <a:xfrm>
            <a:off x="8019288" y="15910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M13</a:t>
            </a:r>
            <a:endParaRPr lang="en-US" sz="1000" dirty="0"/>
          </a:p>
        </p:txBody>
      </p:sp>
      <p:sp>
        <p:nvSpPr>
          <p:cNvPr id="21" name="Mueller cell 18"/>
          <p:cNvSpPr/>
          <p:nvPr/>
        </p:nvSpPr>
        <p:spPr>
          <a:xfrm>
            <a:off x="5989320" y="2267712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Mueller label 19"/>
          <p:cNvSpPr txBox="1"/>
          <p:nvPr/>
        </p:nvSpPr>
        <p:spPr>
          <a:xfrm>
            <a:off x="5989320" y="2267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M20</a:t>
            </a:r>
            <a:endParaRPr lang="en-US" sz="1000" dirty="0"/>
          </a:p>
        </p:txBody>
      </p:sp>
      <p:sp>
        <p:nvSpPr>
          <p:cNvPr id="23" name="Mueller cell 20"/>
          <p:cNvSpPr/>
          <p:nvPr/>
        </p:nvSpPr>
        <p:spPr>
          <a:xfrm>
            <a:off x="6665976" y="2267712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3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Mueller label 21"/>
          <p:cNvSpPr txBox="1"/>
          <p:nvPr/>
        </p:nvSpPr>
        <p:spPr>
          <a:xfrm>
            <a:off x="6665976" y="2267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M21</a:t>
            </a:r>
            <a:endParaRPr lang="en-US" sz="1000" dirty="0"/>
          </a:p>
        </p:txBody>
      </p:sp>
      <p:sp>
        <p:nvSpPr>
          <p:cNvPr id="25" name="Mueller cell 22"/>
          <p:cNvSpPr/>
          <p:nvPr/>
        </p:nvSpPr>
        <p:spPr>
          <a:xfrm>
            <a:off x="7342632" y="2267712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Mueller label 23"/>
          <p:cNvSpPr txBox="1"/>
          <p:nvPr/>
        </p:nvSpPr>
        <p:spPr>
          <a:xfrm>
            <a:off x="7342632" y="2267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M22</a:t>
            </a:r>
            <a:endParaRPr lang="en-US" sz="1000" dirty="0"/>
          </a:p>
        </p:txBody>
      </p:sp>
      <p:sp>
        <p:nvSpPr>
          <p:cNvPr id="27" name="Mueller cell 24"/>
          <p:cNvSpPr/>
          <p:nvPr/>
        </p:nvSpPr>
        <p:spPr>
          <a:xfrm>
            <a:off x="8019288" y="2267712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5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Mueller label 25"/>
          <p:cNvSpPr txBox="1"/>
          <p:nvPr/>
        </p:nvSpPr>
        <p:spPr>
          <a:xfrm>
            <a:off x="8019288" y="2267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M23</a:t>
            </a:r>
            <a:endParaRPr lang="en-US" sz="1000" dirty="0"/>
          </a:p>
        </p:txBody>
      </p:sp>
      <p:sp>
        <p:nvSpPr>
          <p:cNvPr id="29" name="Mueller cell 26"/>
          <p:cNvSpPr/>
          <p:nvPr/>
        </p:nvSpPr>
        <p:spPr>
          <a:xfrm>
            <a:off x="5989320" y="2944368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Mueller label 27"/>
          <p:cNvSpPr txBox="1"/>
          <p:nvPr/>
        </p:nvSpPr>
        <p:spPr>
          <a:xfrm>
            <a:off x="5989320" y="29443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M30</a:t>
            </a:r>
            <a:endParaRPr lang="en-US" sz="1000" dirty="0"/>
          </a:p>
        </p:txBody>
      </p:sp>
      <p:sp>
        <p:nvSpPr>
          <p:cNvPr id="31" name="Mueller cell 28"/>
          <p:cNvSpPr/>
          <p:nvPr/>
        </p:nvSpPr>
        <p:spPr>
          <a:xfrm>
            <a:off x="6665976" y="2944368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7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Mueller label 29"/>
          <p:cNvSpPr txBox="1"/>
          <p:nvPr/>
        </p:nvSpPr>
        <p:spPr>
          <a:xfrm>
            <a:off x="6665976" y="29443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M31</a:t>
            </a:r>
            <a:endParaRPr lang="en-US" sz="1000" dirty="0"/>
          </a:p>
        </p:txBody>
      </p:sp>
      <p:sp>
        <p:nvSpPr>
          <p:cNvPr id="33" name="Mueller cell 30"/>
          <p:cNvSpPr/>
          <p:nvPr/>
        </p:nvSpPr>
        <p:spPr>
          <a:xfrm>
            <a:off x="7342632" y="2944368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Mueller label 31"/>
          <p:cNvSpPr txBox="1"/>
          <p:nvPr/>
        </p:nvSpPr>
        <p:spPr>
          <a:xfrm>
            <a:off x="7342632" y="29443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M32</a:t>
            </a:r>
            <a:endParaRPr lang="en-US" sz="1000" dirty="0"/>
          </a:p>
        </p:txBody>
      </p:sp>
      <p:sp>
        <p:nvSpPr>
          <p:cNvPr id="35" name="Mueller cell 32"/>
          <p:cNvSpPr/>
          <p:nvPr/>
        </p:nvSpPr>
        <p:spPr>
          <a:xfrm>
            <a:off x="8019288" y="2944368"/>
            <a:ext cx="585216" cy="585216"/>
          </a:xfrm>
          <a:prstGeom prst="roundRect">
            <a:avLst>
              <a:gd name="adj" fmla="val 9375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Mueller label 33"/>
          <p:cNvSpPr txBox="1"/>
          <p:nvPr/>
        </p:nvSpPr>
        <p:spPr>
          <a:xfrm>
            <a:off x="8019288" y="29443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M33</a:t>
            </a:r>
            <a:endParaRPr lang="en-US" sz="1000" dirty="0"/>
          </a:p>
        </p:txBody>
      </p:sp>
      <p:sp>
        <p:nvSpPr>
          <p:cNvPr id="37" name="Reference cell 34"/>
          <p:cNvSpPr/>
          <p:nvPr/>
        </p:nvSpPr>
        <p:spPr>
          <a:xfrm>
            <a:off x="5989320" y="3712464"/>
            <a:ext cx="1261872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Reference label 35"/>
          <p:cNvSpPr txBox="1"/>
          <p:nvPr/>
        </p:nvSpPr>
        <p:spPr>
          <a:xfrm>
            <a:off x="5989320" y="37124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TE</a:t>
            </a:r>
            <a:endParaRPr lang="en-US" sz="1100" dirty="0"/>
          </a:p>
        </p:txBody>
      </p:sp>
      <p:sp>
        <p:nvSpPr>
          <p:cNvPr id="39" name="Reference cell 36"/>
          <p:cNvSpPr/>
          <p:nvPr/>
        </p:nvSpPr>
        <p:spPr>
          <a:xfrm>
            <a:off x="7342632" y="3712464"/>
            <a:ext cx="1261872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Reference label 37"/>
          <p:cNvSpPr txBox="1"/>
          <p:nvPr/>
        </p:nvSpPr>
        <p:spPr>
          <a:xfrm>
            <a:off x="7342632" y="37124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At the theoretical limit, on synthetic data only</a:t>
            </a:r>
            <a:endParaRPr lang="en-US" sz="2800" dirty="0"/>
          </a:p>
        </p:txBody>
      </p:sp>
      <p:sp>
        <p:nvSpPr>
          <p:cNvPr id="3" name="Card 38"/>
          <p:cNvSpPr/>
          <p:nvPr/>
        </p:nvSpPr>
        <p:spPr>
          <a:xfrm>
            <a:off x="457200" y="1188720"/>
            <a:ext cx="25603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39"/>
          <p:cNvSpPr txBox="1"/>
          <p:nvPr/>
        </p:nvSpPr>
        <p:spPr>
          <a:xfrm>
            <a:off x="64008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&lt; 0.01%</a:t>
            </a:r>
            <a:endParaRPr lang="en-US" sz="3200" dirty="0"/>
          </a:p>
        </p:txBody>
      </p:sp>
      <p:sp>
        <p:nvSpPr>
          <p:cNvPr id="5" name="Text 40"/>
          <p:cNvSpPr txBox="1"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Errors above 0.3 nm</a:t>
            </a:r>
            <a:endParaRPr lang="en-US" sz="1400" dirty="0"/>
          </a:p>
        </p:txBody>
      </p:sp>
      <p:sp>
        <p:nvSpPr>
          <p:cNvPr id="6" name="Text 41"/>
          <p:cNvSpPr txBox="1"/>
          <p:nvPr/>
        </p:nvSpPr>
        <p:spPr>
          <a:xfrm>
            <a:off x="64008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0.65% with the CNN alone</a:t>
            </a:r>
            <a:endParaRPr lang="en-US" sz="1200" dirty="0"/>
          </a:p>
        </p:txBody>
      </p:sp>
      <p:sp>
        <p:nvSpPr>
          <p:cNvPr id="7" name="Card 42"/>
          <p:cNvSpPr/>
          <p:nvPr/>
        </p:nvSpPr>
        <p:spPr>
          <a:xfrm>
            <a:off x="3291840" y="1188720"/>
            <a:ext cx="25603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3"/>
          <p:cNvSpPr txBox="1"/>
          <p:nvPr/>
        </p:nvSpPr>
        <p:spPr>
          <a:xfrm>
            <a:off x="347472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0.067 nm</a:t>
            </a:r>
            <a:endParaRPr lang="en-US" sz="3200" dirty="0"/>
          </a:p>
        </p:txBody>
      </p:sp>
      <p:sp>
        <p:nvSpPr>
          <p:cNvPr id="9" name="Text 44"/>
          <p:cNvSpPr txBox="1"/>
          <p:nvPr/>
        </p:nvSpPr>
        <p:spPr>
          <a:xfrm>
            <a:off x="347472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CD RMSE after refinement</a:t>
            </a:r>
            <a:endParaRPr lang="en-US" sz="1400" dirty="0"/>
          </a:p>
        </p:txBody>
      </p:sp>
      <p:sp>
        <p:nvSpPr>
          <p:cNvPr id="10" name="Text 45"/>
          <p:cNvSpPr txBox="1"/>
          <p:nvPr/>
        </p:nvSpPr>
        <p:spPr>
          <a:xfrm>
            <a:off x="347472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Equal to the theoretical lower bound of 0.067 nm</a:t>
            </a:r>
            <a:endParaRPr lang="en-US" sz="1200" dirty="0"/>
          </a:p>
        </p:txBody>
      </p:sp>
      <p:sp>
        <p:nvSpPr>
          <p:cNvPr id="11" name="Card 46"/>
          <p:cNvSpPr/>
          <p:nvPr/>
        </p:nvSpPr>
        <p:spPr>
          <a:xfrm>
            <a:off x="6126480" y="1188720"/>
            <a:ext cx="25603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47"/>
          <p:cNvSpPr txBox="1"/>
          <p:nvPr/>
        </p:nvSpPr>
        <p:spPr>
          <a:xfrm>
            <a:off x="630936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0</a:t>
            </a:r>
            <a:endParaRPr lang="en-US" sz="3200" dirty="0"/>
          </a:p>
        </p:txBody>
      </p:sp>
      <p:sp>
        <p:nvSpPr>
          <p:cNvPr id="13" name="Text 48"/>
          <p:cNvSpPr txBox="1"/>
          <p:nvPr/>
        </p:nvSpPr>
        <p:spPr>
          <a:xfrm>
            <a:off x="630936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Real samples verified</a:t>
            </a:r>
            <a:endParaRPr lang="en-US" sz="1400" dirty="0"/>
          </a:p>
        </p:txBody>
      </p:sp>
      <p:sp>
        <p:nvSpPr>
          <p:cNvPr id="14" name="Text 49"/>
          <p:cNvSpPr txBox="1"/>
          <p:nvPr/>
        </p:nvSpPr>
        <p:spPr>
          <a:xfrm>
            <a:off x="630936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Every conclusion still needs real data</a:t>
            </a:r>
            <a:endParaRPr lang="en-US" sz="1200" dirty="0"/>
          </a:p>
        </p:txBody>
      </p:sp>
      <p:sp>
        <p:nvSpPr>
          <p:cNvPr id="15" name="Text 50"/>
          <p:cNvSpPr txBox="1"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Helps: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refinement (largest gain), MLP in place of CNN, cross-channel information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Little effect: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deeper or wider networks, ensembles, more than 5,600 training spectra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Largest gap: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real file format unconfirmed, and far more labels needed than TEM usually provides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Method: network estimate, then a model fit</a:t>
            </a:r>
            <a:endParaRPr lang="en-US" sz="2800" dirty="0"/>
          </a:p>
        </p:txBody>
      </p:sp>
      <p:sp>
        <p:nvSpPr>
          <p:cNvPr id="3" name="Card 51"/>
          <p:cNvSpPr/>
          <p:nvPr/>
        </p:nvSpPr>
        <p:spPr>
          <a:xfrm>
            <a:off x="457200" y="1188720"/>
            <a:ext cx="1463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52"/>
          <p:cNvSpPr txBox="1"/>
          <p:nvPr/>
        </p:nvSpPr>
        <p:spPr>
          <a:xfrm>
            <a:off x="54864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Spectrum</a:t>
            </a:r>
            <a:endParaRPr lang="en-US" sz="1500" dirty="0"/>
          </a:p>
        </p:txBody>
      </p:sp>
      <p:sp>
        <p:nvSpPr>
          <p:cNvPr id="5" name="Text 53"/>
          <p:cNvSpPr txBox="1"/>
          <p:nvPr/>
        </p:nvSpPr>
        <p:spPr>
          <a:xfrm>
            <a:off x="548640" y="18288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18 channels × 101 wavelengths</a:t>
            </a:r>
            <a:endParaRPr lang="en-US" sz="1200" dirty="0"/>
          </a:p>
        </p:txBody>
      </p:sp>
      <p:sp>
        <p:nvSpPr>
          <p:cNvPr id="6" name="Arrow 54"/>
          <p:cNvSpPr/>
          <p:nvPr/>
        </p:nvSpPr>
        <p:spPr>
          <a:xfrm>
            <a:off x="1965960" y="1819656"/>
            <a:ext cx="137160" cy="201168"/>
          </a:xfrm>
          <a:prstGeom prst="chevr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Card 55"/>
          <p:cNvSpPr/>
          <p:nvPr/>
        </p:nvSpPr>
        <p:spPr>
          <a:xfrm>
            <a:off x="2148840" y="1188720"/>
            <a:ext cx="1463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6"/>
          <p:cNvSpPr txBox="1"/>
          <p:nvPr/>
        </p:nvSpPr>
        <p:spPr>
          <a:xfrm>
            <a:off x="224028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Network</a:t>
            </a:r>
            <a:endParaRPr lang="en-US" sz="1500" dirty="0"/>
          </a:p>
        </p:txBody>
      </p:sp>
      <p:sp>
        <p:nvSpPr>
          <p:cNvPr id="9" name="Text 57"/>
          <p:cNvSpPr txBox="1"/>
          <p:nvPr/>
        </p:nvSpPr>
        <p:spPr>
          <a:xfrm>
            <a:off x="2240280" y="18288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MLP or multi-channel 1D CNN</a:t>
            </a:r>
            <a:endParaRPr lang="en-US" sz="1200" dirty="0"/>
          </a:p>
        </p:txBody>
      </p:sp>
      <p:sp>
        <p:nvSpPr>
          <p:cNvPr id="10" name="Arrow 58"/>
          <p:cNvSpPr/>
          <p:nvPr/>
        </p:nvSpPr>
        <p:spPr>
          <a:xfrm>
            <a:off x="3657600" y="1819656"/>
            <a:ext cx="137160" cy="201168"/>
          </a:xfrm>
          <a:prstGeom prst="chevr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Card 59"/>
          <p:cNvSpPr/>
          <p:nvPr/>
        </p:nvSpPr>
        <p:spPr>
          <a:xfrm>
            <a:off x="3840480" y="1188720"/>
            <a:ext cx="1463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60"/>
          <p:cNvSpPr txBox="1"/>
          <p:nvPr/>
        </p:nvSpPr>
        <p:spPr>
          <a:xfrm>
            <a:off x="393192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Initial CD</a:t>
            </a:r>
            <a:endParaRPr lang="en-US" sz="1500" dirty="0"/>
          </a:p>
        </p:txBody>
      </p:sp>
      <p:sp>
        <p:nvSpPr>
          <p:cNvPr id="13" name="Text 61"/>
          <p:cNvSpPr txBox="1"/>
          <p:nvPr/>
        </p:nvSpPr>
        <p:spPr>
          <a:xfrm>
            <a:off x="3931920" y="18288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forward pass</a:t>
            </a:r>
            <a:endParaRPr lang="en-US" sz="1200" dirty="0"/>
          </a:p>
        </p:txBody>
      </p:sp>
      <p:sp>
        <p:nvSpPr>
          <p:cNvPr id="14" name="Arrow 62"/>
          <p:cNvSpPr/>
          <p:nvPr/>
        </p:nvSpPr>
        <p:spPr>
          <a:xfrm>
            <a:off x="5349240" y="1819656"/>
            <a:ext cx="137160" cy="201168"/>
          </a:xfrm>
          <a:prstGeom prst="chevr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Card 63"/>
          <p:cNvSpPr/>
          <p:nvPr/>
        </p:nvSpPr>
        <p:spPr>
          <a:xfrm>
            <a:off x="5532120" y="1188720"/>
            <a:ext cx="146304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64"/>
          <p:cNvSpPr txBox="1"/>
          <p:nvPr/>
        </p:nvSpPr>
        <p:spPr>
          <a:xfrm>
            <a:off x="562356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Refinement</a:t>
            </a:r>
            <a:endParaRPr lang="en-US" sz="1500" dirty="0"/>
          </a:p>
        </p:txBody>
      </p:sp>
      <p:sp>
        <p:nvSpPr>
          <p:cNvPr id="17" name="Text 65"/>
          <p:cNvSpPr txBox="1"/>
          <p:nvPr/>
        </p:nvSpPr>
        <p:spPr>
          <a:xfrm>
            <a:off x="5623560" y="18288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Least-squares fit to the forward model</a:t>
            </a:r>
            <a:endParaRPr lang="en-US" sz="1200" dirty="0"/>
          </a:p>
        </p:txBody>
      </p:sp>
      <p:sp>
        <p:nvSpPr>
          <p:cNvPr id="18" name="Arrow 66"/>
          <p:cNvSpPr/>
          <p:nvPr/>
        </p:nvSpPr>
        <p:spPr>
          <a:xfrm>
            <a:off x="7040880" y="1819656"/>
            <a:ext cx="137160" cy="201168"/>
          </a:xfrm>
          <a:prstGeom prst="chevron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Card 67"/>
          <p:cNvSpPr/>
          <p:nvPr/>
        </p:nvSpPr>
        <p:spPr>
          <a:xfrm>
            <a:off x="7223760" y="1188720"/>
            <a:ext cx="146304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68"/>
          <p:cNvSpPr txBox="1"/>
          <p:nvPr/>
        </p:nvSpPr>
        <p:spPr>
          <a:xfrm>
            <a:off x="7315200" y="1371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CD ± error</a:t>
            </a:r>
            <a:endParaRPr lang="en-US" sz="1500" dirty="0"/>
          </a:p>
        </p:txBody>
      </p:sp>
      <p:sp>
        <p:nvSpPr>
          <p:cNvPr id="21" name="Text 69"/>
          <p:cNvSpPr txBox="1"/>
          <p:nvPr/>
        </p:nvSpPr>
        <p:spPr>
          <a:xfrm>
            <a:off x="7315200" y="18288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Plus a misfit warning</a:t>
            </a:r>
            <a:endParaRPr lang="en-US" sz="1200" dirty="0"/>
          </a:p>
        </p:txBody>
      </p:sp>
      <p:sp>
        <p:nvSpPr>
          <p:cNvPr id="22" name="Text 70"/>
          <p:cNvSpPr txBox="1"/>
          <p:nvPr/>
        </p:nvSpPr>
        <p:spPr>
          <a:xfrm>
            <a:off x="45720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No RCWA needed</a:t>
            </a:r>
            <a:endParaRPr lang="en-US" sz="1500" dirty="0"/>
          </a:p>
        </p:txBody>
      </p:sp>
      <p:sp>
        <p:nvSpPr>
          <p:cNvPr id="23" name="Text 71"/>
          <p:cNvSpPr txBox="1"/>
          <p:nvPr/>
        </p:nvSpPr>
        <p:spPr>
          <a:xfrm>
            <a:off x="457200" y="3383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second network is trained on the same data in reverse, CD to spectrum. The regression averages the noise out.</a:t>
            </a:r>
            <a:endParaRPr lang="en-US" sz="1400" dirty="0"/>
          </a:p>
        </p:txBody>
      </p:sp>
      <p:sp>
        <p:nvSpPr>
          <p:cNvPr id="24" name="Text 72"/>
          <p:cNvSpPr txBox="1"/>
          <p:nvPr/>
        </p:nvSpPr>
        <p:spPr>
          <a:xfrm>
            <a:off x="329184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Yardstick: Cramér–Rao bound</a:t>
            </a:r>
            <a:endParaRPr lang="en-US" sz="1500" dirty="0"/>
          </a:p>
        </p:txBody>
      </p:sp>
      <p:sp>
        <p:nvSpPr>
          <p:cNvPr id="25" name="Text 73"/>
          <p:cNvSpPr txBox="1"/>
          <p:nvPr/>
        </p:nvSpPr>
        <p:spPr>
          <a:xfrm>
            <a:off x="3291840" y="3383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The smallest error any unbiased estimator can reach at a given noise level. It shows how much room is left.</a:t>
            </a:r>
            <a:endParaRPr lang="en-US" sz="1400" dirty="0"/>
          </a:p>
        </p:txBody>
      </p:sp>
      <p:sp>
        <p:nvSpPr>
          <p:cNvPr id="26" name="Text 74"/>
          <p:cNvSpPr txBox="1"/>
          <p:nvPr/>
        </p:nvSpPr>
        <p:spPr>
          <a:xfrm>
            <a:off x="612648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Data: synthetic spectra</a:t>
            </a:r>
            <a:endParaRPr lang="en-US" sz="1500" dirty="0"/>
          </a:p>
        </p:txBody>
      </p:sp>
      <p:sp>
        <p:nvSpPr>
          <p:cNvPr id="27" name="Text 75"/>
          <p:cNvSpPr txBox="1"/>
          <p:nvPr/>
        </p:nvSpPr>
        <p:spPr>
          <a:xfrm>
            <a:off x="6126480" y="3383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CD 20–80 nm, noise 0.01. Not a physical simulation; used to validate the pipeline and compare methods.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MLP plus refinement reaches the bound</a:t>
            </a:r>
            <a:endParaRPr lang="en-US" sz="2800" dirty="0"/>
          </a:p>
        </p:txBody>
      </p:sp>
      <p:graphicFrame>
        <p:nvGraphicFramePr>
          <p:cNvPr id="3" name="Chart 76" descr=""/>
          <p:cNvGraphicFramePr/>
          <p:nvPr/>
        </p:nvGraphicFramePr>
        <p:xfrm>
          <a:off x="365760" y="109728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adge 77"/>
          <p:cNvSpPr/>
          <p:nvPr/>
        </p:nvSpPr>
        <p:spPr>
          <a:xfrm>
            <a:off x="5715000" y="125272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label 78"/>
          <p:cNvSpPr txBox="1"/>
          <p:nvPr/>
        </p:nvSpPr>
        <p:spPr>
          <a:xfrm>
            <a:off x="5715000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79"/>
          <p:cNvSpPr txBox="1"/>
          <p:nvPr/>
        </p:nvSpPr>
        <p:spPr>
          <a:xfrm>
            <a:off x="6153912" y="123444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The CNN is noise-sensitive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1.57 times the bound. Normalization, pooling, width and learning rate all land between 0.102 and 0.132 nm.</a:t>
            </a:r>
            <a:endParaRPr lang="en-US" sz="1400" dirty="0"/>
          </a:p>
        </p:txBody>
      </p:sp>
      <p:sp>
        <p:nvSpPr>
          <p:cNvPr id="7" name="Badge 80"/>
          <p:cNvSpPr/>
          <p:nvPr/>
        </p:nvSpPr>
        <p:spPr>
          <a:xfrm>
            <a:off x="5715000" y="23500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 label 81"/>
          <p:cNvSpPr txBox="1"/>
          <p:nvPr/>
        </p:nvSpPr>
        <p:spPr>
          <a:xfrm>
            <a:off x="57150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82"/>
          <p:cNvSpPr txBox="1"/>
          <p:nvPr/>
        </p:nvSpPr>
        <p:spPr>
          <a:xfrm>
            <a:off x="6153912" y="233172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The MLP gets to 1.15 times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Possibly because synthetic spectra lack local structure; this must be re-tested on real spectra.</a:t>
            </a:r>
            <a:endParaRPr lang="en-US" sz="1400" dirty="0"/>
          </a:p>
        </p:txBody>
      </p:sp>
      <p:sp>
        <p:nvSpPr>
          <p:cNvPr id="10" name="Badge 83"/>
          <p:cNvSpPr/>
          <p:nvPr/>
        </p:nvSpPr>
        <p:spPr>
          <a:xfrm>
            <a:off x="5715000" y="344728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 label 84"/>
          <p:cNvSpPr txBox="1"/>
          <p:nvPr/>
        </p:nvSpPr>
        <p:spPr>
          <a:xfrm>
            <a:off x="571500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85"/>
          <p:cNvSpPr txBox="1"/>
          <p:nvPr/>
        </p:nvSpPr>
        <p:spPr>
          <a:xfrm>
            <a:off x="6153912" y="342900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Refinement gets to 1.02 times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The ranking is the same for three other synthetic physics settings.</a:t>
            </a:r>
            <a:endParaRPr lang="en-US" sz="1400" dirty="0"/>
          </a:p>
        </p:txBody>
      </p:sp>
      <p:sp>
        <p:nvSpPr>
          <p:cNvPr id="13" name="Text 86"/>
          <p:cNvSpPr txBox="1"/>
          <p:nvPr/>
        </p:nvSpPr>
        <p:spPr>
          <a:xfrm>
            <a:off x="45720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Only CD varies; 5,600 training spectra; scored on 20,000 fresh spectra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Error rises sharply below about 700 training samples</a:t>
            </a:r>
            <a:endParaRPr lang="en-US" sz="2800" dirty="0"/>
          </a:p>
        </p:txBody>
      </p:sp>
      <p:graphicFrame>
        <p:nvGraphicFramePr>
          <p:cNvPr id="3" name="Chart 87" descr=""/>
          <p:cNvGraphicFramePr/>
          <p:nvPr/>
        </p:nvGraphicFramePr>
        <p:xfrm>
          <a:off x="365760" y="109728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adge 88"/>
          <p:cNvSpPr/>
          <p:nvPr/>
        </p:nvSpPr>
        <p:spPr>
          <a:xfrm>
            <a:off x="5715000" y="125272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label 89"/>
          <p:cNvSpPr txBox="1"/>
          <p:nvPr/>
        </p:nvSpPr>
        <p:spPr>
          <a:xfrm>
            <a:off x="5715000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90"/>
          <p:cNvSpPr txBox="1"/>
          <p:nvPr/>
        </p:nvSpPr>
        <p:spPr>
          <a:xfrm>
            <a:off x="6153912" y="123444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Refinement hurts below 700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The forward model is not accurate enough yet. Training compares both on validation data and picks automatically.</a:t>
            </a:r>
            <a:endParaRPr lang="en-US" sz="1400" dirty="0"/>
          </a:p>
        </p:txBody>
      </p:sp>
      <p:sp>
        <p:nvSpPr>
          <p:cNvPr id="7" name="Badge 91"/>
          <p:cNvSpPr/>
          <p:nvPr/>
        </p:nvSpPr>
        <p:spPr>
          <a:xfrm>
            <a:off x="5715000" y="23500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 label 92"/>
          <p:cNvSpPr txBox="1"/>
          <p:nvPr/>
        </p:nvSpPr>
        <p:spPr>
          <a:xfrm>
            <a:off x="57150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93"/>
          <p:cNvSpPr txBox="1"/>
          <p:nvPr/>
        </p:nvSpPr>
        <p:spPr>
          <a:xfrm>
            <a:off x="6153912" y="233172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The CNN needs more data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0.290 nm at 700 samples, 0.105 nm at 5,600, and flat beyond that.</a:t>
            </a:r>
            <a:endParaRPr lang="en-US" sz="1400" dirty="0"/>
          </a:p>
        </p:txBody>
      </p:sp>
      <p:sp>
        <p:nvSpPr>
          <p:cNvPr id="10" name="Badge 94"/>
          <p:cNvSpPr/>
          <p:nvPr/>
        </p:nvSpPr>
        <p:spPr>
          <a:xfrm>
            <a:off x="5715000" y="344728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 label 95"/>
          <p:cNvSpPr txBox="1"/>
          <p:nvPr/>
        </p:nvSpPr>
        <p:spPr>
          <a:xfrm>
            <a:off x="571500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96"/>
          <p:cNvSpPr txBox="1"/>
          <p:nvPr/>
        </p:nvSpPr>
        <p:spPr>
          <a:xfrm>
            <a:off x="6153912" y="342900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What it means for real data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With only tens of TEM values, expect errors above 0.3 nm; another source of labels would be needed.</a:t>
            </a:r>
            <a:endParaRPr lang="en-US" sz="1400" dirty="0"/>
          </a:p>
        </p:txBody>
      </p:sp>
      <p:sp>
        <p:nvSpPr>
          <p:cNvPr id="13" name="Text 97"/>
          <p:cNvSpPr txBox="1"/>
          <p:nvPr/>
        </p:nvSpPr>
        <p:spPr>
          <a:xfrm>
            <a:off x="45720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Only CD varies; labels without error; theoretical bound 0.067 nm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Refinement adds error bars and absorbs offsets</a:t>
            </a:r>
            <a:endParaRPr lang="en-US" sz="2800" dirty="0"/>
          </a:p>
        </p:txBody>
      </p:sp>
      <p:graphicFrame>
        <p:nvGraphicFramePr>
          <p:cNvPr id="3" name="Chart 98" descr=""/>
          <p:cNvGraphicFramePr/>
          <p:nvPr/>
        </p:nvGraphicFramePr>
        <p:xfrm>
          <a:off x="365760" y="109728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adge 99"/>
          <p:cNvSpPr/>
          <p:nvPr/>
        </p:nvSpPr>
        <p:spPr>
          <a:xfrm>
            <a:off x="5715000" y="125272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label 100"/>
          <p:cNvSpPr txBox="1"/>
          <p:nvPr/>
        </p:nvSpPr>
        <p:spPr>
          <a:xfrm>
            <a:off x="5715000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101"/>
          <p:cNvSpPr txBox="1"/>
          <p:nvPr/>
        </p:nvSpPr>
        <p:spPr>
          <a:xfrm>
            <a:off x="6153912" y="123444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The offset is fitted too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A 1 nm wavelength offset quadruples the network's error; fitting the offset alongside CD removes the effect.</a:t>
            </a:r>
            <a:endParaRPr lang="en-US" sz="1400" dirty="0"/>
          </a:p>
        </p:txBody>
      </p:sp>
      <p:sp>
        <p:nvSpPr>
          <p:cNvPr id="7" name="Badge 102"/>
          <p:cNvSpPr/>
          <p:nvPr/>
        </p:nvSpPr>
        <p:spPr>
          <a:xfrm>
            <a:off x="5715000" y="23500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 label 103"/>
          <p:cNvSpPr txBox="1"/>
          <p:nvPr/>
        </p:nvSpPr>
        <p:spPr>
          <a:xfrm>
            <a:off x="57150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104"/>
          <p:cNvSpPr txBox="1"/>
          <p:nvPr/>
        </p:nvSpPr>
        <p:spPr>
          <a:xfrm>
            <a:off x="6153912" y="233172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The error bar is calibrated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Actual error divided by predicted standard deviation has a spread of 1.03, against an ideal 1.00.</a:t>
            </a:r>
            <a:endParaRPr lang="en-US" sz="1400" dirty="0"/>
          </a:p>
        </p:txBody>
      </p:sp>
      <p:sp>
        <p:nvSpPr>
          <p:cNvPr id="10" name="Badge 105"/>
          <p:cNvSpPr/>
          <p:nvPr/>
        </p:nvSpPr>
        <p:spPr>
          <a:xfrm>
            <a:off x="5715000" y="344728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 label 106"/>
          <p:cNvSpPr txBox="1"/>
          <p:nvPr/>
        </p:nvSpPr>
        <p:spPr>
          <a:xfrm>
            <a:off x="571500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7"/>
          <p:cNvSpPr txBox="1"/>
          <p:nvPr/>
        </p:nvSpPr>
        <p:spPr>
          <a:xfrm>
            <a:off x="6153912" y="342900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Unusual spectra are flagged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With doubled noise 100% of spectra are flagged, against 0.02% of normal ones.</a:t>
            </a:r>
            <a:endParaRPr lang="en-US" sz="1400" dirty="0"/>
          </a:p>
        </p:txBody>
      </p:sp>
      <p:sp>
        <p:nvSpPr>
          <p:cNvPr id="13" name="Text 108"/>
          <p:cNvSpPr txBox="1"/>
          <p:nvPr/>
        </p:nvSpPr>
        <p:spPr>
          <a:xfrm>
            <a:off x="45720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Only CD varies; 5,600 training spectra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TEM label error of 0.3 nm is tolerable; 1 nm is not</a:t>
            </a:r>
            <a:endParaRPr lang="en-US" sz="2800" dirty="0"/>
          </a:p>
        </p:txBody>
      </p:sp>
      <p:sp>
        <p:nvSpPr>
          <p:cNvPr id="3" name="Card 109"/>
          <p:cNvSpPr/>
          <p:nvPr/>
        </p:nvSpPr>
        <p:spPr>
          <a:xfrm>
            <a:off x="457200" y="1188720"/>
            <a:ext cx="25603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110"/>
          <p:cNvSpPr txBox="1"/>
          <p:nvPr/>
        </p:nvSpPr>
        <p:spPr>
          <a:xfrm>
            <a:off x="64008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label error</a:t>
            </a:r>
            <a:endParaRPr lang="en-US" sz="1400" dirty="0"/>
          </a:p>
        </p:txBody>
      </p:sp>
      <p:sp>
        <p:nvSpPr>
          <p:cNvPr id="5" name="Text 111"/>
          <p:cNvSpPr txBox="1"/>
          <p:nvPr/>
        </p:nvSpPr>
        <p:spPr>
          <a:xfrm>
            <a:off x="64008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0.077</a:t>
            </a:r>
            <a:endParaRPr lang="en-US" sz="2800" dirty="0"/>
          </a:p>
        </p:txBody>
      </p:sp>
      <p:sp>
        <p:nvSpPr>
          <p:cNvPr id="6" name="Text 112"/>
          <p:cNvSpPr txBox="1"/>
          <p:nvPr/>
        </p:nvSpPr>
        <p:spPr>
          <a:xfrm>
            <a:off x="173736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0.068</a:t>
            </a:r>
            <a:endParaRPr lang="en-US" sz="2800" dirty="0"/>
          </a:p>
        </p:txBody>
      </p:sp>
      <p:sp>
        <p:nvSpPr>
          <p:cNvPr id="7" name="Text 113"/>
          <p:cNvSpPr txBox="1"/>
          <p:nvPr/>
        </p:nvSpPr>
        <p:spPr>
          <a:xfrm>
            <a:off x="64008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MLP</a:t>
            </a:r>
            <a:endParaRPr lang="en-US" sz="1100" dirty="0"/>
          </a:p>
        </p:txBody>
      </p:sp>
      <p:sp>
        <p:nvSpPr>
          <p:cNvPr id="8" name="Text 114"/>
          <p:cNvSpPr txBox="1"/>
          <p:nvPr/>
        </p:nvSpPr>
        <p:spPr>
          <a:xfrm>
            <a:off x="173736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With refinement</a:t>
            </a:r>
            <a:endParaRPr lang="en-US" sz="1100" dirty="0"/>
          </a:p>
        </p:txBody>
      </p:sp>
      <p:sp>
        <p:nvSpPr>
          <p:cNvPr id="9" name="Text 115"/>
          <p:cNvSpPr txBox="1"/>
          <p:nvPr/>
        </p:nvSpPr>
        <p:spPr>
          <a:xfrm>
            <a:off x="64008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Close to the 0.067 nm bound</a:t>
            </a:r>
            <a:endParaRPr lang="en-US" sz="1200" dirty="0"/>
          </a:p>
        </p:txBody>
      </p:sp>
      <p:sp>
        <p:nvSpPr>
          <p:cNvPr id="10" name="Card 116"/>
          <p:cNvSpPr/>
          <p:nvPr/>
        </p:nvSpPr>
        <p:spPr>
          <a:xfrm>
            <a:off x="3291840" y="1188720"/>
            <a:ext cx="25603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117"/>
          <p:cNvSpPr txBox="1"/>
          <p:nvPr/>
        </p:nvSpPr>
        <p:spPr>
          <a:xfrm>
            <a:off x="347472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Label error 0.3 nm</a:t>
            </a:r>
            <a:endParaRPr lang="en-US" sz="1400" dirty="0"/>
          </a:p>
        </p:txBody>
      </p:sp>
      <p:sp>
        <p:nvSpPr>
          <p:cNvPr id="12" name="Text 118"/>
          <p:cNvSpPr txBox="1"/>
          <p:nvPr/>
        </p:nvSpPr>
        <p:spPr>
          <a:xfrm>
            <a:off x="347472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0.117</a:t>
            </a:r>
            <a:endParaRPr lang="en-US" sz="2800" dirty="0"/>
          </a:p>
        </p:txBody>
      </p:sp>
      <p:sp>
        <p:nvSpPr>
          <p:cNvPr id="13" name="Text 119"/>
          <p:cNvSpPr txBox="1"/>
          <p:nvPr/>
        </p:nvSpPr>
        <p:spPr>
          <a:xfrm>
            <a:off x="457200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0.076</a:t>
            </a:r>
            <a:endParaRPr lang="en-US" sz="2800" dirty="0"/>
          </a:p>
        </p:txBody>
      </p:sp>
      <p:sp>
        <p:nvSpPr>
          <p:cNvPr id="14" name="Text 120"/>
          <p:cNvSpPr txBox="1"/>
          <p:nvPr/>
        </p:nvSpPr>
        <p:spPr>
          <a:xfrm>
            <a:off x="347472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MLP</a:t>
            </a:r>
            <a:endParaRPr lang="en-US" sz="1100" dirty="0"/>
          </a:p>
        </p:txBody>
      </p:sp>
      <p:sp>
        <p:nvSpPr>
          <p:cNvPr id="15" name="Text 121"/>
          <p:cNvSpPr txBox="1"/>
          <p:nvPr/>
        </p:nvSpPr>
        <p:spPr>
          <a:xfrm>
            <a:off x="457200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With refinement</a:t>
            </a:r>
            <a:endParaRPr lang="en-US" sz="1100" dirty="0"/>
          </a:p>
        </p:txBody>
      </p:sp>
      <p:sp>
        <p:nvSpPr>
          <p:cNvPr id="16" name="Text 122"/>
          <p:cNvSpPr txBox="1"/>
          <p:nvPr/>
        </p:nvSpPr>
        <p:spPr>
          <a:xfrm>
            <a:off x="34747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Refinement is barely affected</a:t>
            </a:r>
            <a:endParaRPr lang="en-US" sz="1200" dirty="0"/>
          </a:p>
        </p:txBody>
      </p:sp>
      <p:sp>
        <p:nvSpPr>
          <p:cNvPr id="17" name="Card 123"/>
          <p:cNvSpPr/>
          <p:nvPr/>
        </p:nvSpPr>
        <p:spPr>
          <a:xfrm>
            <a:off x="6126480" y="1188720"/>
            <a:ext cx="25603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24"/>
          <p:cNvSpPr txBox="1"/>
          <p:nvPr/>
        </p:nvSpPr>
        <p:spPr>
          <a:xfrm>
            <a:off x="630936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Label error 1.0 nm</a:t>
            </a:r>
            <a:endParaRPr lang="en-US" sz="1400" dirty="0"/>
          </a:p>
        </p:txBody>
      </p:sp>
      <p:sp>
        <p:nvSpPr>
          <p:cNvPr id="19" name="Text 125"/>
          <p:cNvSpPr txBox="1"/>
          <p:nvPr/>
        </p:nvSpPr>
        <p:spPr>
          <a:xfrm>
            <a:off x="630936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0.258</a:t>
            </a:r>
            <a:endParaRPr lang="en-US" sz="2800" dirty="0"/>
          </a:p>
        </p:txBody>
      </p:sp>
      <p:sp>
        <p:nvSpPr>
          <p:cNvPr id="20" name="Text 126"/>
          <p:cNvSpPr txBox="1"/>
          <p:nvPr/>
        </p:nvSpPr>
        <p:spPr>
          <a:xfrm>
            <a:off x="740664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0.178</a:t>
            </a:r>
            <a:endParaRPr lang="en-US" sz="2800" dirty="0"/>
          </a:p>
        </p:txBody>
      </p:sp>
      <p:sp>
        <p:nvSpPr>
          <p:cNvPr id="21" name="Text 127"/>
          <p:cNvSpPr txBox="1"/>
          <p:nvPr/>
        </p:nvSpPr>
        <p:spPr>
          <a:xfrm>
            <a:off x="630936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MLP</a:t>
            </a:r>
            <a:endParaRPr lang="en-US" sz="1100" dirty="0"/>
          </a:p>
        </p:txBody>
      </p:sp>
      <p:sp>
        <p:nvSpPr>
          <p:cNvPr id="22" name="Text 128"/>
          <p:cNvSpPr txBox="1"/>
          <p:nvPr/>
        </p:nvSpPr>
        <p:spPr>
          <a:xfrm>
            <a:off x="7406640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With refinement</a:t>
            </a:r>
            <a:endParaRPr lang="en-US" sz="1100" dirty="0"/>
          </a:p>
        </p:txBody>
      </p:sp>
      <p:sp>
        <p:nvSpPr>
          <p:cNvPr id="23" name="Text 129"/>
          <p:cNvSpPr txBox="1"/>
          <p:nvPr/>
        </p:nvSpPr>
        <p:spPr>
          <a:xfrm>
            <a:off x="630936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Both clearly worse</a:t>
            </a:r>
            <a:endParaRPr lang="en-US" sz="1200" dirty="0"/>
          </a:p>
        </p:txBody>
      </p:sp>
      <p:sp>
        <p:nvSpPr>
          <p:cNvPr id="24" name="Text 130"/>
          <p:cNvSpPr txBox="1"/>
          <p:nvPr/>
        </p:nvSpPr>
        <p:spPr>
          <a:xfrm>
            <a:off x="45720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Label error passes to the network</a:t>
            </a:r>
            <a:endParaRPr lang="en-US" sz="1400" dirty="0"/>
          </a:p>
        </p:txBody>
      </p:sp>
      <p:sp>
        <p:nvSpPr>
          <p:cNvPr id="25" name="Text 131"/>
          <p:cNvSpPr txBox="1"/>
          <p:nvPr/>
        </p:nvSpPr>
        <p:spPr>
          <a:xfrm>
            <a:off x="457200" y="3703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The network learns the erroneous labels; the error is not averaged out.</a:t>
            </a:r>
            <a:endParaRPr lang="en-US" sz="1200" dirty="0"/>
          </a:p>
        </p:txBody>
      </p:sp>
      <p:sp>
        <p:nvSpPr>
          <p:cNvPr id="26" name="Text 132"/>
          <p:cNvSpPr txBox="1"/>
          <p:nvPr/>
        </p:nvSpPr>
        <p:spPr>
          <a:xfrm>
            <a:off x="329184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Refinement averages it out</a:t>
            </a:r>
            <a:endParaRPr lang="en-US" sz="1400" dirty="0"/>
          </a:p>
        </p:txBody>
      </p:sp>
      <p:sp>
        <p:nvSpPr>
          <p:cNvPr id="27" name="Text 133"/>
          <p:cNvSpPr txBox="1"/>
          <p:nvPr/>
        </p:nvSpPr>
        <p:spPr>
          <a:xfrm>
            <a:off x="3291840" y="3703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With 16,800 training spectra the 0.3 nm case reaches 0.072 nm.</a:t>
            </a:r>
            <a:endParaRPr lang="en-US" sz="1200" dirty="0"/>
          </a:p>
        </p:txBody>
      </p:sp>
      <p:sp>
        <p:nvSpPr>
          <p:cNvPr id="28" name="Text 134"/>
          <p:cNvSpPr txBox="1"/>
          <p:nvPr/>
        </p:nvSpPr>
        <p:spPr>
          <a:xfrm>
            <a:off x="612648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Range edges biased at 1 nm</a:t>
            </a:r>
            <a:endParaRPr lang="en-US" sz="1400" dirty="0"/>
          </a:p>
        </p:txBody>
      </p:sp>
      <p:sp>
        <p:nvSpPr>
          <p:cNvPr id="29" name="Text 135"/>
          <p:cNvSpPr txBox="1"/>
          <p:nvPr/>
        </p:nvSpPr>
        <p:spPr>
          <a:xfrm>
            <a:off x="6126480" y="3703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The interior stays at 0.077 nm, so train on a wider range than is used.</a:t>
            </a:r>
            <a:endParaRPr lang="en-US" sz="1200" dirty="0"/>
          </a:p>
        </p:txBody>
      </p:sp>
      <p:sp>
        <p:nvSpPr>
          <p:cNvPr id="30" name="Text 13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CD RMSE (nm). Only CD varies; 5,600 training spectra; test labels without error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Labels for other parameters are valuable</a:t>
            </a:r>
            <a:endParaRPr lang="en-US" sz="2800" dirty="0"/>
          </a:p>
        </p:txBody>
      </p:sp>
      <p:graphicFrame>
        <p:nvGraphicFramePr>
          <p:cNvPr id="3" name="Chart 137" descr=""/>
          <p:cNvGraphicFramePr/>
          <p:nvPr/>
        </p:nvGraphicFramePr>
        <p:xfrm>
          <a:off x="365760" y="109728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adge 138"/>
          <p:cNvSpPr/>
          <p:nvPr/>
        </p:nvSpPr>
        <p:spPr>
          <a:xfrm>
            <a:off x="5715000" y="125272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label 139"/>
          <p:cNvSpPr txBox="1"/>
          <p:nvPr/>
        </p:nvSpPr>
        <p:spPr>
          <a:xfrm>
            <a:off x="5715000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140"/>
          <p:cNvSpPr txBox="1"/>
          <p:nvPr/>
        </p:nvSpPr>
        <p:spPr>
          <a:xfrm>
            <a:off x="6153912" y="123444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The bound itself rises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From 0.067 to 0.090 nm. Three extra parameters stand in for height, sidewall angle and film thickness.</a:t>
            </a:r>
            <a:endParaRPr lang="en-US" sz="1400" dirty="0"/>
          </a:p>
        </p:txBody>
      </p:sp>
      <p:sp>
        <p:nvSpPr>
          <p:cNvPr id="7" name="Badge 141"/>
          <p:cNvSpPr/>
          <p:nvPr/>
        </p:nvSpPr>
        <p:spPr>
          <a:xfrm>
            <a:off x="5715000" y="23500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 label 142"/>
          <p:cNvSpPr txBox="1"/>
          <p:nvPr/>
        </p:nvSpPr>
        <p:spPr>
          <a:xfrm>
            <a:off x="57150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143"/>
          <p:cNvSpPr txBox="1"/>
          <p:nvPr/>
        </p:nvSpPr>
        <p:spPr>
          <a:xfrm>
            <a:off x="6153912" y="233172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With their labels: near the bound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Refinement reaches 0.096 nm; the multi-task network 0.122 nm.</a:t>
            </a:r>
            <a:endParaRPr lang="en-US" sz="1400" dirty="0"/>
          </a:p>
        </p:txBody>
      </p:sp>
      <p:sp>
        <p:nvSpPr>
          <p:cNvPr id="10" name="Badge 144"/>
          <p:cNvSpPr/>
          <p:nvPr/>
        </p:nvSpPr>
        <p:spPr>
          <a:xfrm>
            <a:off x="5715000" y="344728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 label 145"/>
          <p:cNvSpPr txBox="1"/>
          <p:nvPr/>
        </p:nvSpPr>
        <p:spPr>
          <a:xfrm>
            <a:off x="571500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46"/>
          <p:cNvSpPr txBox="1"/>
          <p:nvPr/>
        </p:nvSpPr>
        <p:spPr>
          <a:xfrm>
            <a:off x="6153912" y="3429000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CD labels only: position matters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0.098 nm in the central 70% of the training range, but 0.187 nm in the outer 3%, worse than the network's 0.161.</a:t>
            </a:r>
            <a:endParaRPr lang="en-US" sz="1400" dirty="0"/>
          </a:p>
        </p:txBody>
      </p:sp>
      <p:sp>
        <p:nvSpPr>
          <p:cNvPr id="13" name="Text 147"/>
          <p:cNvSpPr txBox="1"/>
          <p:nvPr/>
        </p:nvSpPr>
        <p:spPr>
          <a:xfrm>
            <a:off x="457200" y="4480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16,800–33,600 training spectra; the nuisance parameters are generic stand-ins, not physical models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Which ML methods help, on synthetic data</a:t>
            </a:r>
            <a:endParaRPr lang="en-US" sz="2800" dirty="0"/>
          </a:p>
        </p:txBody>
      </p:sp>
      <p:graphicFrame>
        <p:nvGraphicFramePr>
          <p:cNvPr id="10" name="Table 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201168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CD 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Refinement (learned forward model)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1.57× bound → 1.02×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Helps most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in place of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1.57× bound → 1.15×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Helps; re-test on real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Cross-channel vs. per-channel convolution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 vs. 0.138 nm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Cross-channel helps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augmentation, ensembles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 → 0.095 / 0.097 nm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Multi-task: also predict other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 → 0.122 nm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gain; needs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Depth, width, normalization, pooling, more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clear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attention, 2D / 3D 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 → 0.108 / 0.111 / 0.119 nm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First-derivative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0.105 → 0.121, MLP 0.077 → 0.096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4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Original question (is cross-channel information among the Mueller elements useful?): yes within a CNN, but an MLP reading every channel directly does better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Real data: code is ready, data is missing</a:t>
            </a:r>
            <a:endParaRPr lang="en-US" sz="2800" dirty="0"/>
          </a:p>
        </p:txBody>
      </p:sp>
      <p:sp>
        <p:nvSpPr>
          <p:cNvPr id="3" name="Text 150"/>
          <p:cNvSpPr txBox="1"/>
          <p:nvPr/>
        </p:nvSpPr>
        <p:spPr>
          <a:xfrm>
            <a:off x="45720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Data still needed</a:t>
            </a:r>
            <a:endParaRPr lang="en-US" sz="1600" dirty="0"/>
          </a:p>
        </p:txBody>
      </p:sp>
      <p:sp>
        <p:nvSpPr>
          <p:cNvPr id="4" name="Badge 151"/>
          <p:cNvSpPr/>
          <p:nvPr/>
        </p:nvSpPr>
        <p:spPr>
          <a:xfrm>
            <a:off x="457200" y="16642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label 152"/>
          <p:cNvSpPr txBox="1"/>
          <p:nvPr/>
        </p:nvSpPr>
        <p:spPr>
          <a:xfrm>
            <a:off x="457200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153"/>
          <p:cNvSpPr txBox="1"/>
          <p:nvPr/>
        </p:nvSpPr>
        <p:spPr>
          <a:xfrm>
            <a:off x="896112" y="164592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One real spectrum export</a:t>
            </a:r>
            <a:endParaRPr lang="en-US" sz="1400" dirty="0"/>
          </a:p>
        </p:txBody>
      </p:sp>
      <p:sp>
        <p:nvSpPr>
          <p:cNvPr id="7" name="Text 154"/>
          <p:cNvSpPr txBox="1"/>
          <p:nvPr/>
        </p:nvSpPr>
        <p:spPr>
          <a:xfrm>
            <a:off x="896112" y="1920240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Confirms format, wavelength range, channel count</a:t>
            </a:r>
            <a:endParaRPr lang="en-US" sz="1200" dirty="0"/>
          </a:p>
        </p:txBody>
      </p:sp>
      <p:sp>
        <p:nvSpPr>
          <p:cNvPr id="8" name="Badge 155"/>
          <p:cNvSpPr/>
          <p:nvPr/>
        </p:nvSpPr>
        <p:spPr>
          <a:xfrm>
            <a:off x="457200" y="226771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adge label 156"/>
          <p:cNvSpPr txBox="1"/>
          <p:nvPr/>
        </p:nvSpPr>
        <p:spPr>
          <a:xfrm>
            <a:off x="45720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157"/>
          <p:cNvSpPr txBox="1"/>
          <p:nvPr/>
        </p:nvSpPr>
        <p:spPr>
          <a:xfrm>
            <a:off x="896112" y="2249424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Number of spectrum–TEM pairs</a:t>
            </a:r>
            <a:endParaRPr lang="en-US" sz="1400" dirty="0"/>
          </a:p>
        </p:txBody>
      </p:sp>
      <p:sp>
        <p:nvSpPr>
          <p:cNvPr id="11" name="Text 158"/>
          <p:cNvSpPr txBox="1"/>
          <p:nvPr/>
        </p:nvSpPr>
        <p:spPr>
          <a:xfrm>
            <a:off x="896112" y="252374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Below a few hundred, another label source is needed</a:t>
            </a:r>
            <a:endParaRPr lang="en-US" sz="1200" dirty="0"/>
          </a:p>
        </p:txBody>
      </p:sp>
      <p:sp>
        <p:nvSpPr>
          <p:cNvPr id="12" name="Badge 159"/>
          <p:cNvSpPr/>
          <p:nvPr/>
        </p:nvSpPr>
        <p:spPr>
          <a:xfrm>
            <a:off x="457200" y="287121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 label 160"/>
          <p:cNvSpPr txBox="1"/>
          <p:nvPr/>
        </p:nvSpPr>
        <p:spPr>
          <a:xfrm>
            <a:off x="45720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61"/>
          <p:cNvSpPr txBox="1"/>
          <p:nvPr/>
        </p:nvSpPr>
        <p:spPr>
          <a:xfrm>
            <a:off x="896112" y="28529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Repeat measurements of one site</a:t>
            </a:r>
            <a:endParaRPr lang="en-US" sz="1400" dirty="0"/>
          </a:p>
        </p:txBody>
      </p:sp>
      <p:sp>
        <p:nvSpPr>
          <p:cNvPr id="15" name="Text 162"/>
          <p:cNvSpPr txBox="1"/>
          <p:nvPr/>
        </p:nvSpPr>
        <p:spPr>
          <a:xfrm>
            <a:off x="896112" y="312724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To estimate the real measurement noise</a:t>
            </a:r>
            <a:endParaRPr lang="en-US" sz="1200" dirty="0"/>
          </a:p>
        </p:txBody>
      </p:sp>
      <p:sp>
        <p:nvSpPr>
          <p:cNvPr id="16" name="Badge 163"/>
          <p:cNvSpPr/>
          <p:nvPr/>
        </p:nvSpPr>
        <p:spPr>
          <a:xfrm>
            <a:off x="457200" y="3474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 label 164"/>
          <p:cNvSpPr txBox="1"/>
          <p:nvPr/>
        </p:nvSpPr>
        <p:spPr>
          <a:xfrm>
            <a:off x="45720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5"/>
          <p:cNvSpPr txBox="1"/>
          <p:nvPr/>
        </p:nvSpPr>
        <p:spPr>
          <a:xfrm>
            <a:off x="896112" y="3456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What comes with each TEM value</a:t>
            </a:r>
            <a:endParaRPr lang="en-US" sz="1400" dirty="0"/>
          </a:p>
        </p:txBody>
      </p:sp>
      <p:sp>
        <p:nvSpPr>
          <p:cNvPr id="19" name="Text 166"/>
          <p:cNvSpPr txBox="1"/>
          <p:nvPr/>
        </p:nvSpPr>
        <p:spPr>
          <a:xfrm>
            <a:off x="896112" y="373075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Wafer ID, plus height, sidewall angle and similar</a:t>
            </a:r>
            <a:endParaRPr lang="en-US" sz="1200" dirty="0"/>
          </a:p>
        </p:txBody>
      </p:sp>
      <p:sp>
        <p:nvSpPr>
          <p:cNvPr id="20" name="Badge 167"/>
          <p:cNvSpPr/>
          <p:nvPr/>
        </p:nvSpPr>
        <p:spPr>
          <a:xfrm>
            <a:off x="457200" y="40782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Badge label 168"/>
          <p:cNvSpPr txBox="1"/>
          <p:nvPr/>
        </p:nvSpPr>
        <p:spPr>
          <a:xfrm>
            <a:off x="45720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169"/>
          <p:cNvSpPr txBox="1"/>
          <p:nvPr/>
        </p:nvSpPr>
        <p:spPr>
          <a:xfrm>
            <a:off x="896112" y="405993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 wide enough sampling range</a:t>
            </a:r>
            <a:endParaRPr lang="en-US" sz="1400" dirty="0"/>
          </a:p>
        </p:txBody>
      </p:sp>
      <p:sp>
        <p:nvSpPr>
          <p:cNvPr id="23" name="Text 170"/>
          <p:cNvSpPr txBox="1"/>
          <p:nvPr/>
        </p:nvSpPr>
        <p:spPr>
          <a:xfrm>
            <a:off x="896112" y="433425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Train on a wider range than will be used</a:t>
            </a:r>
            <a:endParaRPr lang="en-US" sz="1200" dirty="0"/>
          </a:p>
        </p:txBody>
      </p:sp>
      <p:sp>
        <p:nvSpPr>
          <p:cNvPr id="24" name="Text 171"/>
          <p:cNvSpPr txBox="1"/>
          <p:nvPr/>
        </p:nvSpPr>
        <p:spPr>
          <a:xfrm>
            <a:off x="470916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Code ready, awaiting real data</a:t>
            </a:r>
            <a:endParaRPr lang="en-US" sz="1600" dirty="0"/>
          </a:p>
        </p:txBody>
      </p:sp>
      <p:sp>
        <p:nvSpPr>
          <p:cNvPr id="25" name="Badge 172"/>
          <p:cNvSpPr/>
          <p:nvPr/>
        </p:nvSpPr>
        <p:spPr>
          <a:xfrm>
            <a:off x="4709160" y="16642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Badge label 173"/>
          <p:cNvSpPr txBox="1"/>
          <p:nvPr/>
        </p:nvSpPr>
        <p:spPr>
          <a:xfrm>
            <a:off x="4709160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Text 174"/>
          <p:cNvSpPr txBox="1"/>
          <p:nvPr/>
        </p:nvSpPr>
        <p:spPr>
          <a:xfrm>
            <a:off x="5148072" y="164592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Training on real data</a:t>
            </a:r>
            <a:endParaRPr lang="en-US" sz="1400" dirty="0"/>
          </a:p>
        </p:txBody>
      </p:sp>
      <p:sp>
        <p:nvSpPr>
          <p:cNvPr id="28" name="Text 175"/>
          <p:cNvSpPr txBox="1"/>
          <p:nvPr/>
        </p:nvSpPr>
        <p:spPr>
          <a:xfrm>
            <a:off x="5148072" y="1920240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 folder of spectra plus a reference-CD table</a:t>
            </a:r>
            <a:endParaRPr lang="en-US" sz="1200" dirty="0"/>
          </a:p>
        </p:txBody>
      </p:sp>
      <p:sp>
        <p:nvSpPr>
          <p:cNvPr id="29" name="Badge 176"/>
          <p:cNvSpPr/>
          <p:nvPr/>
        </p:nvSpPr>
        <p:spPr>
          <a:xfrm>
            <a:off x="4709160" y="226771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Badge label 177"/>
          <p:cNvSpPr txBox="1"/>
          <p:nvPr/>
        </p:nvSpPr>
        <p:spPr>
          <a:xfrm>
            <a:off x="470916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Text 178"/>
          <p:cNvSpPr txBox="1"/>
          <p:nvPr/>
        </p:nvSpPr>
        <p:spPr>
          <a:xfrm>
            <a:off x="5148072" y="2249424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Cross-validation</a:t>
            </a:r>
            <a:endParaRPr lang="en-US" sz="1400" dirty="0"/>
          </a:p>
        </p:txBody>
      </p:sp>
      <p:sp>
        <p:nvSpPr>
          <p:cNvPr id="32" name="Text 179"/>
          <p:cNvSpPr txBox="1"/>
          <p:nvPr/>
        </p:nvSpPr>
        <p:spPr>
          <a:xfrm>
            <a:off x="5148072" y="252374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Grouped by wafer; suited to small sample counts</a:t>
            </a:r>
            <a:endParaRPr lang="en-US" sz="1200" dirty="0"/>
          </a:p>
        </p:txBody>
      </p:sp>
      <p:sp>
        <p:nvSpPr>
          <p:cNvPr id="33" name="Badge 180"/>
          <p:cNvSpPr/>
          <p:nvPr/>
        </p:nvSpPr>
        <p:spPr>
          <a:xfrm>
            <a:off x="4709160" y="287121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Badge label 181"/>
          <p:cNvSpPr txBox="1"/>
          <p:nvPr/>
        </p:nvSpPr>
        <p:spPr>
          <a:xfrm>
            <a:off x="470916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Text 182"/>
          <p:cNvSpPr txBox="1"/>
          <p:nvPr/>
        </p:nvSpPr>
        <p:spPr>
          <a:xfrm>
            <a:off x="5148072" y="28529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Method comparison tool</a:t>
            </a:r>
            <a:endParaRPr lang="en-US" sz="1400" dirty="0"/>
          </a:p>
        </p:txBody>
      </p:sp>
      <p:sp>
        <p:nvSpPr>
          <p:cNvPr id="36" name="Text 183"/>
          <p:cNvSpPr txBox="1"/>
          <p:nvPr/>
        </p:nvSpPr>
        <p:spPr>
          <a:xfrm>
            <a:off x="5148072" y="312724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Every method scored on the same splits</a:t>
            </a:r>
            <a:endParaRPr lang="en-US" sz="1200" dirty="0"/>
          </a:p>
        </p:txBody>
      </p:sp>
      <p:sp>
        <p:nvSpPr>
          <p:cNvPr id="37" name="Badge 184"/>
          <p:cNvSpPr/>
          <p:nvPr/>
        </p:nvSpPr>
        <p:spPr>
          <a:xfrm>
            <a:off x="4709160" y="3474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Badge label 185"/>
          <p:cNvSpPr txBox="1"/>
          <p:nvPr/>
        </p:nvSpPr>
        <p:spPr>
          <a:xfrm>
            <a:off x="470916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9" name="Text 186"/>
          <p:cNvSpPr txBox="1"/>
          <p:nvPr/>
        </p:nvSpPr>
        <p:spPr>
          <a:xfrm>
            <a:off x="5148072" y="3456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Install and handoff documents</a:t>
            </a:r>
            <a:endParaRPr lang="en-US" sz="1400" dirty="0"/>
          </a:p>
        </p:txBody>
      </p:sp>
      <p:sp>
        <p:nvSpPr>
          <p:cNvPr id="40" name="Text 187"/>
          <p:cNvSpPr txBox="1"/>
          <p:nvPr/>
        </p:nvSpPr>
        <p:spPr>
          <a:xfrm>
            <a:off x="5148072" y="373075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Pinned versions, intranet install, notes for the next agent</a:t>
            </a:r>
            <a:endParaRPr lang="en-US" sz="1200" dirty="0"/>
          </a:p>
        </p:txBody>
      </p:sp>
      <p:sp>
        <p:nvSpPr>
          <p:cNvPr id="41" name="Badge 188"/>
          <p:cNvSpPr/>
          <p:nvPr/>
        </p:nvSpPr>
        <p:spPr>
          <a:xfrm>
            <a:off x="4709160" y="40782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Badge label 189"/>
          <p:cNvSpPr txBox="1"/>
          <p:nvPr/>
        </p:nvSpPr>
        <p:spPr>
          <a:xfrm>
            <a:off x="470916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Text 190"/>
          <p:cNvSpPr txBox="1"/>
          <p:nvPr/>
        </p:nvSpPr>
        <p:spPr>
          <a:xfrm>
            <a:off x="5148072" y="405993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Still to do</a:t>
            </a:r>
            <a:endParaRPr lang="en-US" sz="1400" dirty="0"/>
          </a:p>
        </p:txBody>
      </p:sp>
      <p:sp>
        <p:nvSpPr>
          <p:cNvPr id="44" name="Text 191"/>
          <p:cNvSpPr txBox="1"/>
          <p:nvPr/>
        </p:nvSpPr>
        <p:spPr>
          <a:xfrm>
            <a:off x="5148072" y="433425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Re-run every comparison on real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D ML Report">
  <a:themeElements>
    <a:clrScheme name="OCD ML Report">
      <a:dk1>
        <a:srgbClr val="13262B"/>
      </a:dk1>
      <a:lt1>
        <a:srgbClr val="FFFFFF"/>
      </a:lt1>
      <a:dk2>
        <a:srgbClr val="0B3C49"/>
      </a:dk2>
      <a:lt2>
        <a:srgbClr val="EAF2F2"/>
      </a:lt2>
      <a:accent1>
        <a:srgbClr val="0E7C7B"/>
      </a:accent1>
      <a:accent2>
        <a:srgbClr val="F2A541"/>
      </a:accent2>
      <a:accent3>
        <a:srgbClr val="5B6B70"/>
      </a:accent3>
      <a:accent4>
        <a:srgbClr val="C8553D"/>
      </a:accent4>
      <a:accent5>
        <a:srgbClr val="8FB8B6"/>
      </a:accent5>
      <a:accent6>
        <a:srgbClr val="D3E0E0"/>
      </a:accent6>
      <a:hlink>
        <a:srgbClr val="0E7C7B"/>
      </a:hlink>
      <a:folHlink>
        <a:srgbClr val="5B6B70"/>
      </a:folHlink>
    </a:clrScheme>
    <a:fontScheme name="OCD ML Repor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Mueller Matrix Spectra and Machine Learning for CD</dc:title>
  <dc:subject>PptxGenJS Presentation</dc:subject>
  <dc:creator>Jerry</dc:creator>
  <cp:lastModifiedBy>Jerry</cp:lastModifiedBy>
  <cp:revision>1</cp:revision>
  <dcterms:created xsi:type="dcterms:W3CDTF">2026-10-10T03:50:04Z</dcterms:created>
  <dcterms:modified xsi:type="dcterms:W3CDTF">2026-10-10T03:50:04Z</dcterms:modified>
</cp:coreProperties>
</file>